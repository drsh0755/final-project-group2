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 vs Literal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T1 v1</c:v>
                  </c:pt>
                  <c:pt idx="1">
                    <c:v>T1 v2</c:v>
                  </c:pt>
                  <c:pt idx="2">
                    <c:v>T2 v1</c:v>
                  </c:pt>
                  <c:pt idx="3">
                    <c:v>T2 v2</c:v>
                  </c:pt>
                  <c:pt idx="4">
                    <c:v>T3 v1</c:v>
                  </c:pt>
                  <c:pt idx="5">
                    <c:v>T3 v2</c:v>
                  </c:pt>
                  <c:pt idx="6">
                    <c:v>T3 v3a</c:v>
                  </c:pt>
                  <c:pt idx="7">
                    <c:v>T3 v3b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0.35</c:v>
                </c:pt>
                <c:pt idx="1">
                  <c:v>0.92</c:v>
                </c:pt>
                <c:pt idx="2">
                  <c:v>2.19</c:v>
                </c:pt>
                <c:pt idx="3">
                  <c:v>2.84</c:v>
                </c:pt>
                <c:pt idx="4">
                  <c:v>9.05</c:v>
                </c:pt>
                <c:pt idx="5">
                  <c:v>8.94</c:v>
                </c:pt>
                <c:pt idx="6">
                  <c:v>7.9</c:v>
                </c:pt>
                <c:pt idx="7">
                  <c:v>7.77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BLEU vs Style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T1 v1</c:v>
                  </c:pt>
                  <c:pt idx="1">
                    <c:v>T1 v2</c:v>
                  </c:pt>
                  <c:pt idx="2">
                    <c:v>T2 v1</c:v>
                  </c:pt>
                  <c:pt idx="3">
                    <c:v>T2 v2</c:v>
                  </c:pt>
                  <c:pt idx="4">
                    <c:v>T3 v1</c:v>
                  </c:pt>
                  <c:pt idx="5">
                    <c:v>T3 v2</c:v>
                  </c:pt>
                  <c:pt idx="6">
                    <c:v>T3 v3a</c:v>
                  </c:pt>
                  <c:pt idx="7">
                    <c:v>T3 v3b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0.29</c:v>
                </c:pt>
                <c:pt idx="1">
                  <c:v>0.73</c:v>
                </c:pt>
                <c:pt idx="2">
                  <c:v>3.52</c:v>
                </c:pt>
                <c:pt idx="3">
                  <c:v>2.12</c:v>
                </c:pt>
                <c:pt idx="4">
                  <c:v>6.69</c:v>
                </c:pt>
                <c:pt idx="5">
                  <c:v>6.84</c:v>
                </c:pt>
                <c:pt idx="6">
                  <c:v>7.07</c:v>
                </c:pt>
                <c:pt idx="7">
                  <c:v>6.69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85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8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85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AF7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640080"/>
            <a:ext cx="164592" cy="164592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03320" y="1051560"/>
            <a:ext cx="164592" cy="164592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3320" y="1463040"/>
            <a:ext cx="164592" cy="164592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03320" y="1874520"/>
            <a:ext cx="164592" cy="164592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2286000"/>
            <a:ext cx="164592" cy="164592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572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i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غزل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ghazal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754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हज़ारों ख़्वाहिशें ऐसी कि हर ख़्वाहिश पे दम निकले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बहुत निकले मेरे अरमान लेकिन फिर भी कम निकले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Mirza Ghalib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12801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Style-Preserving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297680" y="19659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Hindi/Urdu → English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297680" y="2743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Poetic Translation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297680" y="3703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Comparison: Rule-Based, Seq2Seq with Bahdanau Attention,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Fine-Tuned Transformers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4526280"/>
            <a:ext cx="1371600" cy="36576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4709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Adarsh Singh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297680" y="5166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Natural Language Processing — Spring 2026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5532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Amir Jafari    |    The George Washington University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5989320"/>
            <a:ext cx="228600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github.com/drsh0755/Final-Project-Group2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297680" y="6400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29,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Poetic Translation Is Hard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(Devanagari):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बहुत निकले मेरे अरमान लेकिन फिर भी कम निकले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86000"/>
            <a:ext cx="73152" cy="1463040"/>
          </a:xfrm>
          <a:prstGeom prst="rect">
            <a:avLst/>
          </a:prstGeom>
          <a:solidFill>
            <a:srgbClr val="8B3A2E"/>
          </a:solidFill>
          <a:ln w="12700">
            <a:solidFill>
              <a:srgbClr val="8B3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(literal)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 of my desires came out, but still few came out."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preserved. Rhythm, rhyme, and emotional weight gone.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931920"/>
            <a:ext cx="73152" cy="146304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poet-style rendering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 of my longings were fulfilled, yet many remain."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and end-of-line emphasis preserved. This is what we want.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3258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26948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Poetic translation must preserve: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12280" y="1947672"/>
            <a:ext cx="146304" cy="14630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9536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syllabic length per line (matlas)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12280" y="2450592"/>
            <a:ext cx="146304" cy="14630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088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Rhyme scheme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59536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ghazal radif/qafia structure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12280" y="2953512"/>
            <a:ext cx="146304" cy="14630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088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9536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candle/moth, wine/beloved metaphors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12280" y="3456432"/>
            <a:ext cx="146304" cy="14630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4088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59536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melancholic, devotional, romantic register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812280" y="3959352"/>
            <a:ext cx="146304" cy="14630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4088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count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59536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integrity of the verse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766560" y="4617720"/>
            <a:ext cx="5029200" cy="146304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95160" y="4754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MT systems were never optimized for any of this — they reward fluent prose, not preserved form.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Approach: Three Tiers, Increasing Sophistication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Baseline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v1, v2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8.5K-entry Hindi/Urdu–English lexicon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ITRANS romanization fallback for OOV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Lower-bound — shows literal translation breaks poetry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371600"/>
            <a:ext cx="3657600" cy="73152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Seq2Seq + Bahdanau Attention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v1, v2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31546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PyTorch implementation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biLSTM encoder + 2-layer decoder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 augmentation in v2 (3× train data)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371600"/>
            <a:ext cx="36576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Fine-Tuned Opus-MT (MarianMT)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v1, v2, v3a, v3b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31546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Helsinki-NLP/opus-mt-hi-en, ~76M params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Seq2SeqTrainer, fp16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variants: v1, v2, v3a (interleaved), v3b (curriculum)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577840"/>
            <a:ext cx="228600" cy="22860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577840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trained checkpoints — all evaluated on the same 100 held-out test poems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A Custom Multi-Reference Corpus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Source: Kaggle Urdu Ghazal Dataset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4864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poets — Ghalib, Faiz, Iqbal, Ahmad Faraz, Mir, Gulzar…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folders per poet: en/, hi/, ur/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en/ is transliteration, not translation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from Rekhta/Kavitakosh — no structured plaintext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490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Translations Generated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0624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en_t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926080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 (Google)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029200" y="4160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reference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52628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4480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en_anthropic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292608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Sonnet 4.5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029200" y="4480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training target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84632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4800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en_mistral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2926080" y="4800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029200" y="4800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target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166360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8680" y="5120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en_gemini / en_grok / en_groq / en_meta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2926080" y="5120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Grok, Groq, Meta-Llama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02920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(API auth + limits)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6949440" y="1280160"/>
            <a:ext cx="4846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949440" y="1280160"/>
            <a:ext cx="48463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717804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Statistics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7178040" y="1965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000" dirty="0"/>
          </a:p>
        </p:txBody>
      </p:sp>
      <p:sp>
        <p:nvSpPr>
          <p:cNvPr id="29" name="Text 21"/>
          <p:cNvSpPr/>
          <p:nvPr/>
        </p:nvSpPr>
        <p:spPr>
          <a:xfrm>
            <a:off x="717804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8732520" y="1965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1,305</a:t>
            </a:r>
            <a:endParaRPr lang="en-US" sz="3000" dirty="0"/>
          </a:p>
        </p:txBody>
      </p:sp>
      <p:sp>
        <p:nvSpPr>
          <p:cNvPr id="31" name="Text 23"/>
          <p:cNvSpPr/>
          <p:nvPr/>
        </p:nvSpPr>
        <p:spPr>
          <a:xfrm>
            <a:off x="873252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poems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0287000" y="1965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20,869</a:t>
            </a:r>
            <a:endParaRPr lang="en-US" sz="3000" dirty="0"/>
          </a:p>
        </p:txBody>
      </p:sp>
      <p:sp>
        <p:nvSpPr>
          <p:cNvPr id="33" name="Text 25"/>
          <p:cNvSpPr/>
          <p:nvPr/>
        </p:nvSpPr>
        <p:spPr>
          <a:xfrm>
            <a:off x="102870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1780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Stratified-by-poet poem-level split: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3383280"/>
          <a:ext cx="457200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1527048"/>
                <a:gridCol w="1527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(70%)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(15%)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(15%)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27"/>
          <p:cNvSpPr/>
          <p:nvPr/>
        </p:nvSpPr>
        <p:spPr>
          <a:xfrm>
            <a:off x="7178040" y="4434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v2 multi-target augmentation: </a:t>
            </a:r>
            <a:pPr indent="0" marL="0">
              <a:buNone/>
            </a:pPr>
            <a:r>
              <a:rPr lang="en-US" sz="11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 line paired with en_anthropic, en_mistral, and en_t — train set 14.6K → 43.7K.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7178040" y="5486400"/>
            <a:ext cx="146304" cy="146304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7406640" y="5440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lines from the same poem appear in different splits.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 — Rule-Based Dictionary Baseline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Word-by-word lookup against a curated bilingual lexicon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8.5K entries + ITRANS romanization fallback for OOV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rhyme-scheme detector (AABB, ABAB, radif/qafia)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 training, runs on CPU in seconds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943600" cy="192024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rule: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4480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ŷᵢ = D(wᵢ)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wᵢ ∈ D, else [wᵢ]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5349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rose from 40.2% (v1) to ~62% (v2) with the expanded lexicon and transliteration fallback.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4944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output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49440" y="1691640"/>
            <a:ext cx="48463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323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0" y="2103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बहुत निकले मेरे अरमान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लेकिन फिर भी कम निकले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3232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v2 output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32320" y="3291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 came-out my arman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still less came-out"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1323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32320" y="4480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Word-by-word breaks down on poetic vocabulary, idioms, and SOV→SVO reordering. This is exactly the gap Tier 2 and Tier 3 are built to close.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 — Seq2Seq + Bahdanau Attention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943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645920" cy="27432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 … hₙ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 emb → 512-d hidden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layers × 2 directions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2651760"/>
            <a:ext cx="1371600" cy="1463040"/>
          </a:xfrm>
          <a:prstGeom prst="ellipse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011680"/>
            <a:ext cx="1645920" cy="2743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ŷ₁ … ŷₘ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3832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forcing p=0.5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layers, dropout 0.3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3383280"/>
            <a:ext cx="274320" cy="0"/>
          </a:xfrm>
          <a:prstGeom prst="line">
            <a:avLst/>
          </a:prstGeom>
          <a:noFill/>
          <a:ln w="25400">
            <a:solidFill>
              <a:srgbClr val="5C585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06240" y="3383280"/>
            <a:ext cx="274320" cy="0"/>
          </a:xfrm>
          <a:prstGeom prst="line">
            <a:avLst/>
          </a:prstGeom>
          <a:noFill/>
          <a:ln w="25400">
            <a:solidFill>
              <a:srgbClr val="5C585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4400" y="4846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(Devanagari)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4846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Bahdanau Additive Attention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1737360"/>
            <a:ext cx="5029200" cy="169164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8288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eₜⱼ = vᵀ tanh(Wₐsₜ₋₁ + Uₐhⱼ)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αₜⱼ = exp(eₜⱼ) / Σₖ exp(eₜₖ)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cₜ  = Σⱼ αₜⱼ · hⱼ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4069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4069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η = 1e-3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43982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4398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 dropout 0.3, grad clip 1.0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47274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v2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4727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— en_anthropic, en_mistral, en_t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5056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5056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on val loss, patience 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5385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5385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 M trainable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 — Fine-Tuned Opus-MT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1064240" cy="128016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Helsinki-NLP/opus-mt-hi-en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7830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MarianMT encoder-decoder Transformer (~76M params), specialized to hi→en via OPUS corpora. Fine-tuned on the multi-reference poetry corpus using Hugging Face Seq2SeqTrainer with mixed-precision (fp16).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834640"/>
            <a:ext cx="73152" cy="2926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017520"/>
            <a:ext cx="502920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017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Schedule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3931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50K IIT Bombay (η=5e-5)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poetry → en_anthropic (η=2e-5)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overfit by epoch 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29000" y="2834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2834640"/>
            <a:ext cx="73152" cy="2926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3017520"/>
            <a:ext cx="502920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0" y="3017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Dropped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657600" y="3931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fine-tune on poetry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η=5e-6, weight decay 0.05, batch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val BLEU; healthy generalization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09360" y="2834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09360" y="2834640"/>
            <a:ext cx="73152" cy="2926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3017520"/>
            <a:ext cx="502920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7960" y="3017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3796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Interleaved Styles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537960" y="3931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en_anthropic + en_mistral targets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alternating mini-batches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BLEU vs Style across all 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189720" y="2834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189720" y="2834640"/>
            <a:ext cx="73152" cy="29260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18320" y="3017520"/>
            <a:ext cx="502920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18320" y="3017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v3b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41832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Learning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418320" y="3931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A: en_anthropic (15 epochs)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B: en_mistral (η=2e-6, 10 epochs)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stable, modest gain over v3a</a:t>
            </a:r>
            <a:endParaRPr lang="en-US" sz="10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89320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versions saved to disk and exposed in the Streamlit demo for direct comparison.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Evaluation: Two Families of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4406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40680" cy="7315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MT Metrics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vs Literal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en_t (deep-translator) — measures semantic-literal fidelity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vs Style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3639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en_anthropic (Claude style-preserving) — measures stylistic alignment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5074920" cy="246888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033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formula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977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BLEU = BP · exp( Σₙ wₙ log pₙ 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 =  1                if c &gt; 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exp(1 − r/c)   if c ≤ 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5532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 of n-gram precisions, brevity-penalized.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54406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371600"/>
            <a:ext cx="54406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6002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Style Metrics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1488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Rhyme Density 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45059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output lines whose final-word last-3-char ending is shared by another line — captures whether the output rhymes at all.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2004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Alignment Score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50215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mean line-by-line normalized syllable difference. Devanagari counts (vowels + matras) on source side; English vowel-groups on target.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389120"/>
            <a:ext cx="5074920" cy="16459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5262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SyllAlign formula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4846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SyllAlign = 1 − (1/m) Σₗ |σ_src − σ_tgt| / max(σ_src, σ_tgt)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55321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 rhythmic length-matching per line.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All 8 Checkpoints, One Test 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numbers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092440" y="18288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92440" y="1828800"/>
            <a:ext cx="54864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0" y="1874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9.05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509760" y="1874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BLEU vs Literal — T3 v1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92440" y="27432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92440" y="2743200"/>
            <a:ext cx="54864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27889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7.07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50976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BLEU vs Style — T3 v3a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92440" y="36576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3657600"/>
            <a:ext cx="54864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37033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0.701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509760" y="3703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Rhyme Density — T2 v1*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92440" y="45720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92440" y="4572000"/>
            <a:ext cx="54864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4617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0.520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509760" y="4617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Syllable Align — T3 v2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T2 v1's high rhyme density is partly an artifact — the LSTM produces repetitive line endings.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No Single Model Wins on Every Axis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1064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three models — Mirza Ghalib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बहुत निकले मेरे अरमान लेकिन फिर भी कम निकले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304288"/>
            <a:ext cx="164592" cy="164592"/>
          </a:xfrm>
          <a:prstGeom prst="ellipse">
            <a:avLst/>
          </a:prstGeom>
          <a:solidFill>
            <a:srgbClr val="8B3A2E"/>
          </a:solidFill>
          <a:ln w="12700">
            <a:solidFill>
              <a:srgbClr val="8B3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40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v2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240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 came-out my arman but still less came-out"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670048"/>
            <a:ext cx="164592" cy="164592"/>
          </a:xfrm>
          <a:prstGeom prst="ellipse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06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v2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606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 of my hopes came forth but still they were too few"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035808"/>
            <a:ext cx="164592" cy="164592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9718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 v3a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971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 of my longings were fulfilled, yet many remain"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657600" cy="228600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literal fidelity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 v1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BLEU vs Literal (9.05). Two-phase schedule grounds the model in IIT-Bombay-style prose translation.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657600"/>
            <a:ext cx="3657600" cy="228600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stylistic English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 v3a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2628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BLEU vs Style (7.07). Interleaved en_anthropic/en_mistral teaches both styles simultaneously.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657600"/>
            <a:ext cx="3657600" cy="228600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rhythmic length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 v2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7532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Syllable Alignment (0.520). Clean fine-tune produces fluent English that matches source line length.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and style metrics measure different things. Reporting both — with caveats — is more honest than picking one winner.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8600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8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0" y="19659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8400" dirty="0"/>
          </a:p>
        </p:txBody>
      </p:sp>
      <p:sp>
        <p:nvSpPr>
          <p:cNvPr id="5" name="Text 2"/>
          <p:cNvSpPr/>
          <p:nvPr/>
        </p:nvSpPr>
        <p:spPr>
          <a:xfrm>
            <a:off x="4572000" y="3520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translators, side by side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0" y="420624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local checkpoints — Tier 1 v1/v2, Tier 2 v1/v2, Tier 3 v1/v2/v3a/v3b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external APIs — Google Translate, Anthropic Claude, Mistral Large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live: BLEU vs Literal, BLEU vs Style, Rhyme Density, Syllable Align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5852160"/>
            <a:ext cx="6858000" cy="502920"/>
          </a:xfrm>
          <a:prstGeom prst="rect">
            <a:avLst/>
          </a:prstGeom>
          <a:solidFill>
            <a:srgbClr val="8B3A2E"/>
          </a:solidFill>
          <a:ln w="12700">
            <a:solidFill>
              <a:srgbClr val="8B3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5897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streamlit_app.py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6309360"/>
            <a:ext cx="164592" cy="164592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6309360"/>
            <a:ext cx="164592" cy="164592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6309360"/>
            <a:ext cx="164592" cy="164592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46304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lessons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73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model to 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9842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 5 HiNER NER models early — encoder-only, can't generate translations. Read the model card, not the name.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5877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is not always better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8986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fine-tuning on 50K IIT-Bombay rows hurt poetry style. v2 dropped Phase 1 and outperformed v1 on the style axis.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502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 need debugging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8130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Syllable Alignment returned ~0 because it counted Latin vowels on Devanagari. Devanagari-aware fix → 0.520.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4165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rhyme ≠ poetic quality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7274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T2's 0.701 rhyme density is repetitive endings, not real rhyme. Reporting BLEU + style metrics with caveats is more honest.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53309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around external dependencies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6418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reference APIs planned, only 2 worked. Designed pipeline so missing columns degrade gracefully.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280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1783080"/>
            <a:ext cx="109728" cy="109728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Rhyme-aware auxiliary loss: L = L_CE + λ · (1 − RhymeDensity)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2496312"/>
            <a:ext cx="109728" cy="109728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4048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Urdu-Nastaliq script with professionally-translated parallel pairs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3209544"/>
            <a:ext cx="109728" cy="109728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1181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IndicTrans2 as a fourth tier once corpus issue is resolved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3922776"/>
            <a:ext cx="109728" cy="109728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8313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beam search biased toward end-rhyme word sets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636008"/>
            <a:ext cx="109728" cy="109728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5445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 on mBART-50 or NLLB-200 for parameter-efficient style adapters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5349240"/>
            <a:ext cx="109728" cy="109728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257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Poem-level human evaluation (Fluency / Meaning / Poetic Feel) on 30-poem sample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6312 — Final Project — Adarsh Singh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C89B5C"/>
          </a:solidFill>
          <a:ln w="12700">
            <a:solidFill>
              <a:srgbClr val="C89B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463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291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32461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371600" y="4572000"/>
            <a:ext cx="9601200" cy="1554480"/>
          </a:xfrm>
          <a:prstGeom prst="rect">
            <a:avLst/>
          </a:prstGeom>
          <a:solidFill>
            <a:srgbClr val="8B3A2E"/>
          </a:solidFill>
          <a:ln w="12700">
            <a:solidFill>
              <a:srgbClr val="8B3A2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800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github.com/drsh0755/Final-Project-Group2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60020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Singh    |    DATS 6312 — Natural Language Processing — Spring 2026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60020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George Washington University    |    Instructor: Dr. Amir Jafari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72800" y="365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i="1" dirty="0">
                <a:solidFill>
                  <a:srgbClr val="C89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غزل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Style-Preserving Hindi/Urdu Poetic Translation</dc:title>
  <dc:subject>PptxGenJS Presentation</dc:subject>
  <dc:creator>Adarsh Singh</dc:creator>
  <cp:lastModifiedBy>Adarsh Singh</cp:lastModifiedBy>
  <cp:revision>1</cp:revision>
  <dcterms:created xsi:type="dcterms:W3CDTF">2026-04-29T13:39:14Z</dcterms:created>
  <dcterms:modified xsi:type="dcterms:W3CDTF">2026-04-29T13:39:14Z</dcterms:modified>
</cp:coreProperties>
</file>